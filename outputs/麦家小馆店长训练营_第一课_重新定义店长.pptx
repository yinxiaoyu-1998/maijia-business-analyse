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029a7f49014995" /><Relationship Type="http://schemas.openxmlformats.org/officeDocument/2006/relationships/extended-properties" Target="/docProps/app.xml" Id="R79824c5c6f5946fa" /><Relationship Type="http://schemas.openxmlformats.org/officeDocument/2006/relationships/officeDocument" Target="/ppt/presentation.xml" Id="R28b0f877f9984a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5040fb13ae4ce6"/>
  </p:sldMasterIdLst>
  <p:notesMasterIdLst>
    <p:notesMasterId xmlns:r="http://schemas.openxmlformats.org/officeDocument/2006/relationships" r:id="Rb88f634bf1e44ca4"/>
  </p:notesMasterIdLst>
  <p:sldIdLst>
    <p:sldId xmlns:r="http://schemas.openxmlformats.org/officeDocument/2006/relationships" id="256" r:id="R69321576c7bf4edf"/>
    <p:sldId xmlns:r="http://schemas.openxmlformats.org/officeDocument/2006/relationships" id="257" r:id="R18db34b384834718"/>
    <p:sldId xmlns:r="http://schemas.openxmlformats.org/officeDocument/2006/relationships" id="258" r:id="R0a9bef1fe29c482a"/>
    <p:sldId xmlns:r="http://schemas.openxmlformats.org/officeDocument/2006/relationships" id="259" r:id="Rdf224a23275e487c"/>
    <p:sldId xmlns:r="http://schemas.openxmlformats.org/officeDocument/2006/relationships" id="260" r:id="Rea9771d2a09e432c"/>
    <p:sldId xmlns:r="http://schemas.openxmlformats.org/officeDocument/2006/relationships" id="261" r:id="R912aac9bb10a4cee"/>
    <p:sldId xmlns:r="http://schemas.openxmlformats.org/officeDocument/2006/relationships" id="262" r:id="R52cf1d128dad4c90"/>
    <p:sldId xmlns:r="http://schemas.openxmlformats.org/officeDocument/2006/relationships" id="263" r:id="R65bc2f93d86d4d81"/>
    <p:sldId xmlns:r="http://schemas.openxmlformats.org/officeDocument/2006/relationships" id="264" r:id="Rd656b042175b4cf8"/>
    <p:sldId xmlns:r="http://schemas.openxmlformats.org/officeDocument/2006/relationships" id="265" r:id="Rccd2f3b00cf64284"/>
    <p:sldId xmlns:r="http://schemas.openxmlformats.org/officeDocument/2006/relationships" id="266" r:id="R5d5e543f45d44e98"/>
    <p:sldId xmlns:r="http://schemas.openxmlformats.org/officeDocument/2006/relationships" id="267" r:id="R9bac83d29ad64c5c"/>
    <p:sldId xmlns:r="http://schemas.openxmlformats.org/officeDocument/2006/relationships" id="268" r:id="Rbb4af52487d44c77"/>
    <p:sldId xmlns:r="http://schemas.openxmlformats.org/officeDocument/2006/relationships" id="269" r:id="R528b3140eeef40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594d41d6d14ed1" /><Relationship Type="http://schemas.openxmlformats.org/officeDocument/2006/relationships/slideMaster" Target="/ppt/slideMasters/slideMaster1.xml" Id="R625040fb13ae4ce6" /><Relationship Type="http://schemas.openxmlformats.org/officeDocument/2006/relationships/notesMaster" Target="/ppt/notesMasters/notesMaster1.xml" Id="Rb88f634bf1e44ca4" /><Relationship Type="http://schemas.openxmlformats.org/officeDocument/2006/relationships/presProps" Target="/ppt/presProps.xml" Id="Rd5e6f0e485714508" /><Relationship Type="http://schemas.openxmlformats.org/officeDocument/2006/relationships/tableStyles" Target="/ppt/tableStyles.xml" Id="R251780919d524659" /><Relationship Type="http://schemas.openxmlformats.org/officeDocument/2006/relationships/slide" Target="/ppt/slides/slide1.xml" Id="R69321576c7bf4edf" /><Relationship Type="http://schemas.openxmlformats.org/officeDocument/2006/relationships/slide" Target="/ppt/slides/slide2.xml" Id="R18db34b384834718" /><Relationship Type="http://schemas.openxmlformats.org/officeDocument/2006/relationships/slide" Target="/ppt/slides/slide3.xml" Id="R0a9bef1fe29c482a" /><Relationship Type="http://schemas.openxmlformats.org/officeDocument/2006/relationships/slide" Target="/ppt/slides/slide4.xml" Id="Rdf224a23275e487c" /><Relationship Type="http://schemas.openxmlformats.org/officeDocument/2006/relationships/slide" Target="/ppt/slides/slide5.xml" Id="Rea9771d2a09e432c" /><Relationship Type="http://schemas.openxmlformats.org/officeDocument/2006/relationships/slide" Target="/ppt/slides/slide6.xml" Id="R912aac9bb10a4cee" /><Relationship Type="http://schemas.openxmlformats.org/officeDocument/2006/relationships/slide" Target="/ppt/slides/slide7.xml" Id="R52cf1d128dad4c90" /><Relationship Type="http://schemas.openxmlformats.org/officeDocument/2006/relationships/slide" Target="/ppt/slides/slide8.xml" Id="R65bc2f93d86d4d81" /><Relationship Type="http://schemas.openxmlformats.org/officeDocument/2006/relationships/slide" Target="/ppt/slides/slide9.xml" Id="Rd656b042175b4cf8" /><Relationship Type="http://schemas.openxmlformats.org/officeDocument/2006/relationships/slide" Target="/ppt/slides/slide10.xml" Id="Rccd2f3b00cf64284" /><Relationship Type="http://schemas.openxmlformats.org/officeDocument/2006/relationships/slide" Target="/ppt/slides/slide11.xml" Id="R5d5e543f45d44e98" /><Relationship Type="http://schemas.openxmlformats.org/officeDocument/2006/relationships/slide" Target="/ppt/slides/slide12.xml" Id="R9bac83d29ad64c5c" /><Relationship Type="http://schemas.openxmlformats.org/officeDocument/2006/relationships/slide" Target="/ppt/slides/slide13.xml" Id="Rbb4af52487d44c77" /><Relationship Type="http://schemas.openxmlformats.org/officeDocument/2006/relationships/slide" Target="/ppt/slides/slide14.xml" Id="R528b3140eeef40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26777e5b0b4d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16411b406b4190" /><Relationship Type="http://schemas.openxmlformats.org/officeDocument/2006/relationships/notesMaster" Target="/ppt/notesMasters/notesMaster1.xml" Id="Rd5bd5a285a364d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8d3003f30c4e89" /><Relationship Type="http://schemas.openxmlformats.org/officeDocument/2006/relationships/notesMaster" Target="/ppt/notesMasters/notesMaster1.xml" Id="Ree1dc3da9c524f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961fa9a40c4e10" /><Relationship Type="http://schemas.openxmlformats.org/officeDocument/2006/relationships/notesMaster" Target="/ppt/notesMasters/notesMaster1.xml" Id="Ra365653220344c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72547c0e1d49cc" /><Relationship Type="http://schemas.openxmlformats.org/officeDocument/2006/relationships/notesMaster" Target="/ppt/notesMasters/notesMaster1.xml" Id="R9edd7dd0a91946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a7f8da9ce4486a" /><Relationship Type="http://schemas.openxmlformats.org/officeDocument/2006/relationships/notesMaster" Target="/ppt/notesMasters/notesMaster1.xml" Id="Rc3058f1aebda48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5f13ca34aa41c0" /><Relationship Type="http://schemas.openxmlformats.org/officeDocument/2006/relationships/notesMaster" Target="/ppt/notesMasters/notesMaster1.xml" Id="Rd04b6f2bed3543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a2a007c5f246fb" /><Relationship Type="http://schemas.openxmlformats.org/officeDocument/2006/relationships/notesMaster" Target="/ppt/notesMasters/notesMaster1.xml" Id="R3062e23c70134e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36d5ac8e6e4cbe" /><Relationship Type="http://schemas.openxmlformats.org/officeDocument/2006/relationships/notesMaster" Target="/ppt/notesMasters/notesMaster1.xml" Id="R3ca22d84bdbf40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8f4cce60a14d53" /><Relationship Type="http://schemas.openxmlformats.org/officeDocument/2006/relationships/notesMaster" Target="/ppt/notesMasters/notesMaster1.xml" Id="Ra689a437cd0e43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33e788881f4ff5" /><Relationship Type="http://schemas.openxmlformats.org/officeDocument/2006/relationships/notesMaster" Target="/ppt/notesMasters/notesMaster1.xml" Id="R7b70c9333d504fb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525f425f454d29" /><Relationship Type="http://schemas.openxmlformats.org/officeDocument/2006/relationships/notesMaster" Target="/ppt/notesMasters/notesMaster1.xml" Id="R2a47a3ae527a45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63e4a82b414168" /><Relationship Type="http://schemas.openxmlformats.org/officeDocument/2006/relationships/notesMaster" Target="/ppt/notesMasters/notesMaster1.xml" Id="R5688d139a3de41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c994a843984943" /><Relationship Type="http://schemas.openxmlformats.org/officeDocument/2006/relationships/notesMaster" Target="/ppt/notesMasters/notesMaster1.xml" Id="Rd4a5d3ed4c8c47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6ba855c41af4339" /><Relationship Type="http://schemas.openxmlformats.org/officeDocument/2006/relationships/notesMaster" Target="/ppt/notesMasters/notesMaster1.xml" Id="R81a810f4e2cb44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店长，大家好。今天是麦家小馆店长训练营的第一课。这一课，我们先不讲营业额怎么提升，也不讲排班、库存、投诉处理。那些都重要，但还不是第一件事。第一件事，是先回答一个问题：麦家小馆到底需要什么样的店长？如果这个问题没有想清楚，后面的动作、表格、制度都会变成机械执行。所以今天这节课，叫重新定义店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把课程的高度立住。老师可以讲：很多培训一上来就教动作，比如怎么排班、怎么盘点、怎么处理投诉。但第一课不能这样。因为动作背后是人，人的背后是角色认知。一个人如果只把自己当高级服务员，他就会只会补位；如果只把自己当管人的人，他就会每天盯错误；如果只把自己当完成营业额的人，他就会只盯数字。我们今天先把店长这个角色讲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想先送给大家一句话：店长不是一个职位，而是一个社会角色。很多人认为，店长就是负责营业额；也有人认为，店长就是管理员工；还有人认为，店长就是执行公司的制度。这些对不对？都对。但都只是表面。如果只把店长理解成管营业额的人，店长就会每天只盯数字；如果只理解成管人的人，就会每天只盯问题；如果只理解成执行制度的人，就会变成传话的人。麦家小馆需要的店长，不是传话的人，也不是简单管人的人，而是门店的第一责任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优秀店长一定具备一种能力，叫多面性。什么叫多面性？就是你不能只有一张脸。面对营业额，你要像经营者；面对员工，你要像管理者；面对新人，你要像教练；面对矛盾，你要像一个成熟的社会人；面对品牌和责任，你要像真正的负责人。这不是要求大家变复杂，而是要求大家变成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就是我们今天要讲的麦家小馆店长五项修炼。第一，经营有道；第二，管理有序；第三，育人有方；第四，处事有度；第五，担当有魂。注意，这不是五个口号，而是店长每天都要修炼的五种能力。它回答的不是某一个技巧，而是麦家小馆到底需要什么样的店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项修炼，经营有道。店长首先要懂经营。什么叫懂经营？不是只会看营业额。营业额只是结果。真正懂经营的人，要知道营业额从哪里来。是客流带来的？是客单价带来的？是复购带来的？是外卖补贴带来的？是会员转化带来的？还是某几个爆品带来的？同样是增长，有的增长健康，有的增长不健康。比如营业额涨了，但优惠涨得更快；订单多了，但客单下降。店长不能只问今天卖了多少钱，还要问这个钱是怎么来的，靠什么来的，能不能持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项修炼，管理有序。一家门店不能靠感觉运转。不能今天店长心情好，标准就高一点；明天店长忙，标准就松一点。管理有序，就是门店有标准、有流程、有纪律、有检查、有复盘。员工知道自己该做什么，岗位知道自己的标准，时段知道自己的重点，问题有人检查，结果有人复盘。优秀店长不是每天把自己忙死，而是让门店即使很忙，也有节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项修炼，育人有方。我希望所有店长记住一句话：员工成长，是店长最大的长期成绩。很多店长很能干，哪里缺人他顶上去，谁不会做他自己做，谁做得慢他接过来。短期看很厉害，长期看很危险，因为他把自己变成了门店最大的瓶颈。他在，门店能运转；他不在，门店就乱。真正优秀的店长，不是自己一个人强，而是能让一群人变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四项修炼，处事有度。一个优秀店长，要有一点江湖气。但这里说的江湖气，不是讲义气、拉关系、没有原则。真正的江湖气，是懂人情，但不失原则；有温度，但不失标准。餐饮行业本质上是和人打交道。员工有情绪，顾客有情绪，商场有关系，供应商有合作，平台有规则。店长不能只有制度，也不能只有人情。处事有度，就是知道什么时候讲情，什么时候立规矩；什么时候安抚，什么时候坚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五项修炼，担当有魂。店长不是一个普通岗位，店长是门店的第一责任人。顾客看到店长，看到的就是麦家小馆；员工看到店长，看到的就是企业文化。店长决定一家店的气质。有的店一进去就有精神，员工眼里有活，服务有热情，问题有人管，这背后一定有一个有担当的店长。担当有魂，就是店长心里有一根柱子：责任、标准、使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这里要把模型关系讲清楚。五项修炼和 BMGS 不是替代关系，而是互补关系。BMGS 解决店长怎么干，五项修炼解决店长成为什么样的人。简单说，BMGS 是做事的角色框架，五项修炼是成为谁的人格框架。两者合在一起，构成麦家小馆店长训练营的底层哲学。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可以带大家一起读。通人性，而不失原则；知理性，而不失温度；守制度，而不失灵活；讲结果，而不失成长。这句话不是口号，而是店长处理复杂问题时的校准器。遇到员工情绪，先通人性；遇到制度底线，不能失原则；遇到结果压力，要讲结果；但讲结果的同时，也不能忘了团队成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可以做一个小互动。请每位店长在心里给自己打分，不用写给别人看。第一，我今天有没有真正看懂营业额背后的原因？第二，我的门店是否靠流程运转，而不是靠我临时救火？第三，我今天有没有教会一个人、发现一个人、培养一个人？第四，我处理问题时，是只有制度，还是既有温度也有原则？第五，顾客和员工能不能从我身上看到麦家小馆的标准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我们讲了店长的五项修炼：经营有道、管理有序、育人有方、处事有度、担当有魂。麦家小馆需要的，不只是会排班的店长，不只是会管人的店长，也不只是会完成营业额的店长。我们需要的是一个真正能承担门店的人。最后送给大家一句话：优秀的店长，既要懂经营，也要懂人情；既要守规则，也要通人性；既要有制度，也要有温度；既要讲结果，也要带人成长。从今天开始，我们不只是学习怎么当店长，我们要学习怎样成为一个真正值得被团队信任、被顾客认可、被公司托付的店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6d99644e94f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c921fa307446c2" /><Relationship Type="http://schemas.openxmlformats.org/officeDocument/2006/relationships/slideLayout" Target="/ppt/slideLayouts/slideLayout1.xml" Id="Rfc1ec97e619c41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1ec97e619c41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eb5853e2f40a9" /><Relationship Type="http://schemas.openxmlformats.org/officeDocument/2006/relationships/notesSlide" Target="/ppt/notesSlides/notesSlide1.xml" Id="Rc63248fdf27b49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3c5efb1214988" /><Relationship Type="http://schemas.openxmlformats.org/officeDocument/2006/relationships/notesSlide" Target="/ppt/notesSlides/notesSlide2.xml" Id="Rda385e60e7d546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66f25e4344dda" /><Relationship Type="http://schemas.openxmlformats.org/officeDocument/2006/relationships/notesSlide" Target="/ppt/notesSlides/notesSlide3.xml" Id="R4abda5dcb1264d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0324a944c477b" /><Relationship Type="http://schemas.openxmlformats.org/officeDocument/2006/relationships/notesSlide" Target="/ppt/notesSlides/notesSlide4.xml" Id="Rd0571daadf6e4b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6efed60524a8a" /><Relationship Type="http://schemas.openxmlformats.org/officeDocument/2006/relationships/notesSlide" Target="/ppt/notesSlides/notesSlide5.xml" Id="R9048a761fc4b44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f63021fc5407d" /><Relationship Type="http://schemas.openxmlformats.org/officeDocument/2006/relationships/notesSlide" Target="/ppt/notesSlides/notesSlide6.xml" Id="R912ac60fa3bc47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968b5b24e4548" /><Relationship Type="http://schemas.openxmlformats.org/officeDocument/2006/relationships/notesSlide" Target="/ppt/notesSlides/notesSlide7.xml" Id="R6a5e6fb0806c49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275bc6c2e4728" /><Relationship Type="http://schemas.openxmlformats.org/officeDocument/2006/relationships/notesSlide" Target="/ppt/notesSlides/notesSlide8.xml" Id="R0361d43820d448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61e6e9eef4635" /><Relationship Type="http://schemas.openxmlformats.org/officeDocument/2006/relationships/notesSlide" Target="/ppt/notesSlides/notesSlide9.xml" Id="Rbcd6fdbfb1404e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5d16eca5c4322" /><Relationship Type="http://schemas.openxmlformats.org/officeDocument/2006/relationships/notesSlide" Target="/ppt/notesSlides/notesSlide10.xml" Id="R91cea0a14ede442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1818b42154fdf" /><Relationship Type="http://schemas.openxmlformats.org/officeDocument/2006/relationships/notesSlide" Target="/ppt/notesSlides/notesSlide11.xml" Id="Ra1da462b3af747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4675f392f4220" /><Relationship Type="http://schemas.openxmlformats.org/officeDocument/2006/relationships/notesSlide" Target="/ppt/notesSlides/notesSlide12.xml" Id="R90182721c7ff41d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542d473c24d3e" /><Relationship Type="http://schemas.openxmlformats.org/officeDocument/2006/relationships/notesSlide" Target="/ppt/notesSlides/notesSlide13.xml" Id="R3fbeeeea8d0941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66e5d22024b77" /><Relationship Type="http://schemas.openxmlformats.org/officeDocument/2006/relationships/notesSlide" Target="/ppt/notesSlides/notesSlide14.xml" Id="R7f3482655d6d40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B0B746-43E0-418D-B1BA-02E6F45E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6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471E"/>
                </a:solidFill>
              </a:defRPr>
            </a:pPr>
            <a:r>
              <a:rPr sz="1275" b="1">
                <a:solidFill>
                  <a:srgbClr val="B8471E"/>
                </a:solidFill>
              </a:rPr>
              <a:t>MAIJIA STORE MANAGER BOOTCAMP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3DD2E-5E14-4A51-A388-85108E80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1E"/>
          </a:solidFill>
          <a:ln xmlns:a="http://schemas.openxmlformats.org/drawingml/2006/main" w="0">
            <a:solidFill>
              <a:srgbClr val="B8471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15798-8AF1-49FB-9ACE-10D8D0A2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76375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21212"/>
                </a:solidFill>
              </a:defRPr>
            </a:pPr>
            <a:r>
              <a:rPr sz="4350" b="1">
                <a:solidFill>
                  <a:srgbClr val="121212"/>
                </a:solidFill>
              </a:rPr>
              <a:t>重新定义店长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70C35-FF5F-4E2B-AED3-2AB3CEE3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第一课：麦家小馆到底需要什么样的店长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A69E0-F627-4D77-9D36-988E6587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04875"/>
            <a:ext cx="2667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0F638-2F19-428E-A292-A1A56013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3811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2B17"/>
                </a:solidFill>
              </a:defRPr>
            </a:pPr>
            <a:r>
              <a:rPr sz="2250" b="1">
                <a:solidFill>
                  <a:srgbClr val="7A2B17"/>
                </a:solidFill>
              </a:rPr>
              <a:t>第一课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E56F8-E0A7-48CF-A703-53FDF2A3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1905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21212"/>
                </a:solidFill>
              </a:defRPr>
            </a:pPr>
            <a:r>
              <a:rPr sz="3450" b="1">
                <a:solidFill>
                  <a:srgbClr val="121212"/>
                </a:solidFill>
              </a:rPr>
              <a:t>重新定义</a:t>
            </a:r>
          </a:p>
          <a:p xmlns:a="http://schemas.openxmlformats.org/drawingml/2006/main">
            <a:pPr algn="ctr">
              <a:defRPr sz="3450" b="1">
                <a:solidFill>
                  <a:srgbClr val="121212"/>
                </a:solidFill>
              </a:defRPr>
            </a:pPr>
            <a:r>
              <a:rPr sz="3450" b="1">
                <a:solidFill>
                  <a:srgbClr val="121212"/>
                </a:solidFill>
              </a:rPr>
              <a:t>店长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735B7-8773-42DC-BEE1-466AFC16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从岗位认知</a:t>
            </a:r>
          </a:p>
          <a:p xmlns:a="http://schemas.openxmlformats.org/drawingml/2006/main">
            <a:pPr algn="ctr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到角色担当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39714-0359-4713-AAA9-62B36A3D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麦家小馆店长训练营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F297B-AE74-4BA1-980E-C687C312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826031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0F64DB-F18C-4EF2-88C6-45E73D22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71E"/>
                </a:solidFill>
              </a:defRPr>
            </a:pPr>
            <a:r>
              <a:rPr sz="1125" b="1">
                <a:solidFill>
                  <a:srgbClr val="B8471E"/>
                </a:solidFill>
              </a:rPr>
              <a:t>课程定位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FF775-8CF9-436C-9A93-AFAE77AB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212"/>
                </a:solidFill>
              </a:defRPr>
            </a:pPr>
            <a:r>
              <a:rPr sz="3000" b="1">
                <a:solidFill>
                  <a:srgbClr val="121212"/>
                </a:solidFill>
              </a:rPr>
              <a:t>第一课先回答身份问题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2C77A-E7D3-4CE2-BEA7-A2F73EDE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1E"/>
          </a:solidFill>
          <a:ln xmlns:a="http://schemas.openxmlformats.org/drawingml/2006/main" w="0">
            <a:solidFill>
              <a:srgbClr val="B8471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D76EF-180D-4F89-BF38-9F34345D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麦家小馆店长训练营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5CB20-F309-41D3-8CA2-333F8A92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4E96E-2AF2-4BAD-B53F-121531A0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212"/>
                </a:solidFill>
              </a:defRPr>
            </a:pPr>
            <a:r>
              <a:rPr sz="2550" b="1">
                <a:solidFill>
                  <a:srgbClr val="121212"/>
                </a:solidFill>
              </a:rPr>
              <a:t>在学习方法之前，先建立角色认知。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DA1136-D665-483A-A3A6-98B4C50B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981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883A9-9A10-41FE-A45B-162D053F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781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A2B17"/>
                </a:solidFill>
              </a:defRPr>
            </a:pPr>
            <a:r>
              <a:rPr sz="2100" b="1">
                <a:solidFill>
                  <a:srgbClr val="7A2B17"/>
                </a:solidFill>
              </a:rPr>
              <a:t>这节课不是先教店长“做什么”。</a:t>
            </a:r>
          </a:p>
          <a:p xmlns:a="http://schemas.openxmlformats.org/drawingml/2006/main">
            <a:pPr algn="l">
              <a:defRPr sz="2100" b="1">
                <a:solidFill>
                  <a:srgbClr val="7A2B17"/>
                </a:solidFill>
              </a:defRPr>
            </a:pPr>
            <a:r>
              <a:rPr sz="2100" b="1">
                <a:solidFill>
                  <a:srgbClr val="7A2B17"/>
                </a:solidFill>
              </a:rPr>
              <a:t>这节课先回答：店长到底是谁。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086ED-96DD-4FB3-884D-9EDE2313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动作可以学，表格可以填，制度可以背。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但一个店长真正的力量，来自他对自己这个角色的理解。</a:t>
            </a:r>
          </a:p>
        </p:txBody>
      </p:sp>
    </p:spTree>
    <p:extLst>
      <p:ext uri="{BB962C8B-B14F-4D97-AF65-F5344CB8AC3E}">
        <p14:creationId xmlns:p14="http://schemas.microsoft.com/office/powerpoint/2010/main" val="300865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DD6038-CDF2-4DE6-8FBE-7761D303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71E"/>
                </a:solidFill>
              </a:defRPr>
            </a:pPr>
            <a:r>
              <a:rPr sz="1125" b="1">
                <a:solidFill>
                  <a:srgbClr val="B8471E"/>
                </a:solidFill>
              </a:rPr>
              <a:t>核心命题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F2363-2857-4EE5-B943-9FD39E38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212"/>
                </a:solidFill>
              </a:defRPr>
            </a:pPr>
            <a:r>
              <a:rPr sz="3000" b="1">
                <a:solidFill>
                  <a:srgbClr val="121212"/>
                </a:solidFill>
              </a:rPr>
              <a:t>店长不是一个职位，而是一个社会角色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BD651-C810-4812-9BD7-7C2DD25C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1E"/>
          </a:solidFill>
          <a:ln xmlns:a="http://schemas.openxmlformats.org/drawingml/2006/main" w="0">
            <a:solidFill>
              <a:srgbClr val="B8471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40FE3-B61B-4C27-B0F3-C8ACEE036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麦家小馆店长训练营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DEC9A-7DA0-4C24-BF26-810F0E1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E4E1D-323E-48D6-A49C-1A5C62C8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212"/>
                </a:solidFill>
              </a:defRPr>
            </a:pPr>
            <a:r>
              <a:rPr sz="1950" b="1">
                <a:solidFill>
                  <a:srgbClr val="121212"/>
                </a:solidFill>
              </a:rPr>
              <a:t>很多人认为店长只是：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B1443-4322-4347-8C50-D18F5E82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82F85-D65D-49FB-BBDB-D9737E17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1212"/>
                </a:solidFill>
              </a:defRPr>
            </a:pPr>
            <a:r>
              <a:rPr sz="2100" b="1">
                <a:solidFill>
                  <a:srgbClr val="121212"/>
                </a:solidFill>
              </a:rPr>
              <a:t>负责营业额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A52E3-3042-46D6-A5C2-7621D68F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C6ACC-F8CE-4622-9BC2-B1F3ADA6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09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1212"/>
                </a:solidFill>
              </a:defRPr>
            </a:pPr>
            <a:r>
              <a:rPr sz="2100" b="1">
                <a:solidFill>
                  <a:srgbClr val="121212"/>
                </a:solidFill>
              </a:rPr>
              <a:t>管理员工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5B8CE-76D4-4848-A379-6506B55B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6500"/>
            <a:ext cx="2667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76546-ED95-4CA5-ADC8-3242D04C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987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1212"/>
                </a:solidFill>
              </a:defRPr>
            </a:pPr>
            <a:r>
              <a:rPr sz="2100" b="1">
                <a:solidFill>
                  <a:srgbClr val="121212"/>
                </a:solidFill>
              </a:rPr>
              <a:t>执行制度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EB7A0-AC2A-4DBE-A1AC-0EA98519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84138-B1BB-4F79-B6E2-B7ACAE12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A2B17"/>
                </a:solidFill>
              </a:defRPr>
            </a:pPr>
            <a:r>
              <a:rPr sz="2550" b="1">
                <a:solidFill>
                  <a:srgbClr val="7A2B17"/>
                </a:solidFill>
              </a:rPr>
              <a:t>这些都对，但都只是表象。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E0763C-0BBB-4225-9B53-55740BAE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真正的店长，要同时承载经营、团队、顾客、品牌和复杂关系。</a:t>
            </a:r>
          </a:p>
        </p:txBody>
      </p:sp>
    </p:spTree>
    <p:extLst>
      <p:ext uri="{BB962C8B-B14F-4D97-AF65-F5344CB8AC3E}">
        <p14:creationId xmlns:p14="http://schemas.microsoft.com/office/powerpoint/2010/main" val="8415473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DDD800-3665-451D-8A6D-6993C881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71E"/>
                </a:solidFill>
              </a:defRPr>
            </a:pPr>
            <a:r>
              <a:rPr sz="1125" b="1">
                <a:solidFill>
                  <a:srgbClr val="B8471E"/>
                </a:solidFill>
              </a:rPr>
              <a:t>角色切换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2FE2B-C51D-4E3F-829F-661C06D2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212"/>
                </a:solidFill>
              </a:defRPr>
            </a:pPr>
            <a:r>
              <a:rPr sz="3000" b="1">
                <a:solidFill>
                  <a:srgbClr val="121212"/>
                </a:solidFill>
              </a:rPr>
              <a:t>优秀店长一定具备多面性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017D2-9D0D-41C6-9CF5-9BBFA9B0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1E"/>
          </a:solidFill>
          <a:ln xmlns:a="http://schemas.openxmlformats.org/drawingml/2006/main" w="0">
            <a:solidFill>
              <a:srgbClr val="B8471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03AD6-63D0-422A-9DAF-EA135323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麦家小馆店长训练营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2E7A8-D321-4DC6-A0FA-957DCCBD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83786-B8F1-4C9F-A68C-F6425E9B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212"/>
                </a:solidFill>
              </a:defRPr>
            </a:pPr>
            <a:r>
              <a:rPr sz="2250" b="1">
                <a:solidFill>
                  <a:srgbClr val="121212"/>
                </a:solidFill>
              </a:rPr>
              <a:t>店长每天都在不同场景之间切换。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9B1BA-C785-475E-8912-846B1106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面对营业额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48779-44C5-489B-914F-19B440DE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3365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4D355-6375-43FA-A0D7-2FAAA5AC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43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212"/>
                </a:solidFill>
              </a:defRPr>
            </a:pPr>
            <a:r>
              <a:rPr sz="2250" b="1">
                <a:solidFill>
                  <a:srgbClr val="121212"/>
                </a:solidFill>
              </a:rPr>
              <a:t>像经营者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44E1F-613F-4932-94DE-9FE89CAA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面对员工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A54E8-00D8-459F-B1DA-62154A91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8135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6F081-1569-4839-A0C3-53A901C8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908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212"/>
                </a:solidFill>
              </a:defRPr>
            </a:pPr>
            <a:r>
              <a:rPr sz="2250" b="1">
                <a:solidFill>
                  <a:srgbClr val="121212"/>
                </a:solidFill>
              </a:rPr>
              <a:t>像管理者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15E26-EE6D-487C-8A22-863DD0F5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面对新人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18951-DD3B-410C-BDC8-F91166E6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CED58-D717-406F-9E28-A77C3313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38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212"/>
                </a:solidFill>
              </a:defRPr>
            </a:pPr>
            <a:r>
              <a:rPr sz="2250" b="1">
                <a:solidFill>
                  <a:srgbClr val="121212"/>
                </a:solidFill>
              </a:rPr>
              <a:t>像教练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A0386-F4E6-4D33-9F86-F98B2DB1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面对矛盾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CFF1D-AF00-438B-A02D-0E3C46C3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7675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63222-FF2F-43B5-81F9-4DFB55A2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86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212"/>
                </a:solidFill>
              </a:defRPr>
            </a:pPr>
            <a:r>
              <a:rPr sz="2250" b="1">
                <a:solidFill>
                  <a:srgbClr val="121212"/>
                </a:solidFill>
              </a:rPr>
              <a:t>像成熟的社会人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3EF9F1-89EC-47EC-AF4C-3E383899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5555"/>
                </a:solidFill>
              </a:defRPr>
            </a:pPr>
            <a:r>
              <a:rPr sz="1650" b="1">
                <a:solidFill>
                  <a:srgbClr val="555555"/>
                </a:solidFill>
              </a:rPr>
              <a:t>面对品牌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CCABD9-C236-4C89-A3F2-2DE3491E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24450"/>
            <a:ext cx="104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2BE95-AD05-4443-9155-C2EF7B6F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33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A2B17"/>
                </a:solidFill>
              </a:defRPr>
            </a:pPr>
            <a:r>
              <a:rPr sz="2250" b="1">
                <a:solidFill>
                  <a:srgbClr val="7A2B17"/>
                </a:solidFill>
              </a:rPr>
              <a:t>像真正的负责人</a:t>
            </a:r>
          </a:p>
        </p:txBody>
      </p:sp>
    </p:spTree>
    <p:extLst>
      <p:ext uri="{BB962C8B-B14F-4D97-AF65-F5344CB8AC3E}">
        <p14:creationId xmlns:p14="http://schemas.microsoft.com/office/powerpoint/2010/main" val="297800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F9FEF6-6533-4BEA-BAC0-5278B664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71E"/>
                </a:solidFill>
              </a:defRPr>
            </a:pPr>
            <a:r>
              <a:rPr sz="1125" b="1">
                <a:solidFill>
                  <a:srgbClr val="B8471E"/>
                </a:solidFill>
              </a:rPr>
              <a:t>底层模型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BEC19-4774-4D41-BB1B-70DAF4C4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212"/>
                </a:solidFill>
              </a:defRPr>
            </a:pPr>
            <a:r>
              <a:rPr sz="3000" b="1">
                <a:solidFill>
                  <a:srgbClr val="121212"/>
                </a:solidFill>
              </a:rPr>
              <a:t>麦家小馆店长五项修炼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BD754-6F91-435A-B065-14CAE650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1E"/>
          </a:solidFill>
          <a:ln xmlns:a="http://schemas.openxmlformats.org/drawingml/2006/main" w="0">
            <a:solidFill>
              <a:srgbClr val="B8471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BAF73-5C66-4A6A-BA35-94A76CF8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麦家小馆店长训练营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7F2C0-4FBD-4EF3-B2EC-152A63F7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4ECA5-9FC4-4B19-8381-3C18ECE1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714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30692-7D46-462F-89A2-022C978D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383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71E"/>
                </a:solidFill>
              </a:defRPr>
            </a:pPr>
            <a:r>
              <a:rPr sz="1350" b="1">
                <a:solidFill>
                  <a:srgbClr val="B8471E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B88B0-36BB-421C-BF9F-097DAB48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146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212"/>
                </a:solidFill>
              </a:defRPr>
            </a:pPr>
            <a:r>
              <a:rPr sz="1950" b="1">
                <a:solidFill>
                  <a:srgbClr val="121212"/>
                </a:solidFill>
              </a:rPr>
              <a:t>经营有道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56520-C3B0-4138-BE9E-38D43DD3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1285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懂经营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会分析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能创造结果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4389D-7A43-4D09-A76E-87915B3E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1714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433A92-B7F8-498F-8AA9-0C1B10B3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383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71E"/>
                </a:solidFill>
              </a:defRPr>
            </a:pPr>
            <a:r>
              <a:rPr sz="1350" b="1">
                <a:solidFill>
                  <a:srgbClr val="B8471E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C1C3B-B67D-4DBC-9EF7-9E6CCCE1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146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212"/>
                </a:solidFill>
              </a:defRPr>
            </a:pPr>
            <a:r>
              <a:rPr sz="1950" b="1">
                <a:solidFill>
                  <a:srgbClr val="121212"/>
                </a:solidFill>
              </a:rPr>
              <a:t>管理有序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3CD3D-3D3E-4C60-971D-A6BAAFEC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76625"/>
            <a:ext cx="1285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制度清晰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执行到位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流程稳定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08B2D9-71EE-4E3D-B2A5-4A5DE7AF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00250"/>
            <a:ext cx="1714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FC85C0-CED2-4CF8-870F-0477A9FA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383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71E"/>
                </a:solidFill>
              </a:defRPr>
            </a:pPr>
            <a:r>
              <a:rPr sz="1350" b="1">
                <a:solidFill>
                  <a:srgbClr val="B8471E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5E0C1-3815-46D9-95C4-E2DAD552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146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212"/>
                </a:solidFill>
              </a:defRPr>
            </a:pPr>
            <a:r>
              <a:rPr sz="1950" b="1">
                <a:solidFill>
                  <a:srgbClr val="121212"/>
                </a:solidFill>
              </a:rPr>
              <a:t>育人有方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7A2B03-8B11-4C8C-82B4-1A0F3F73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76625"/>
            <a:ext cx="1285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培养人才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帮助员工成长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737B8-AC54-48A5-8CCC-13BB4DAA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714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4E568-1362-4142-A2E8-CC21720A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383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71E"/>
                </a:solidFill>
              </a:defRPr>
            </a:pPr>
            <a:r>
              <a:rPr sz="1350" b="1">
                <a:solidFill>
                  <a:srgbClr val="B8471E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AE1E2-F1BE-4E50-9B7C-1425CE7C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146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212"/>
                </a:solidFill>
              </a:defRPr>
            </a:pPr>
            <a:r>
              <a:rPr sz="1950" b="1">
                <a:solidFill>
                  <a:srgbClr val="121212"/>
                </a:solidFill>
              </a:rPr>
              <a:t>处事有度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71A769-5576-4EC5-93C3-B29EB4C5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76625"/>
            <a:ext cx="1285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通人性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知理性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守原则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0C0AC8-0B0C-4926-A8A8-CFC62632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714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F4D566-9C58-4AF8-B768-3307F0C8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383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71E"/>
                </a:solidFill>
              </a:defRPr>
            </a:pPr>
            <a:r>
              <a:rPr sz="1350" b="1">
                <a:solidFill>
                  <a:srgbClr val="B8471E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30FBA-84D5-47A9-90A8-A3A164A5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7146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212"/>
                </a:solidFill>
              </a:defRPr>
            </a:pPr>
            <a:r>
              <a:rPr sz="1950" b="1">
                <a:solidFill>
                  <a:srgbClr val="121212"/>
                </a:solidFill>
              </a:rPr>
              <a:t>担当有魂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86846E-A171-4A41-96D0-7657EDFA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76625"/>
            <a:ext cx="1285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有责任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有价值观</a:t>
            </a:r>
          </a:p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有品牌意识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681B88-EF52-4421-BDDD-831247F7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A2B17"/>
                </a:solidFill>
              </a:defRPr>
            </a:pPr>
            <a:r>
              <a:rPr sz="1950" b="1">
                <a:solidFill>
                  <a:srgbClr val="7A2B17"/>
                </a:solidFill>
              </a:rPr>
              <a:t>五项修炼回答一个问题：麦家小馆需要什么样的店长。</a:t>
            </a:r>
          </a:p>
        </p:txBody>
      </p:sp>
    </p:spTree>
    <p:extLst>
      <p:ext uri="{BB962C8B-B14F-4D97-AF65-F5344CB8AC3E}">
        <p14:creationId xmlns:p14="http://schemas.microsoft.com/office/powerpoint/2010/main" val="4702690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CCFC17-278F-4B2B-AD52-313E3254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71E"/>
                </a:solidFill>
              </a:defRPr>
            </a:pPr>
            <a:r>
              <a:rPr sz="1125" b="1">
                <a:solidFill>
                  <a:srgbClr val="B8471E"/>
                </a:solidFill>
              </a:rPr>
              <a:t>第一项修炼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74862-1A2D-4571-A131-96BFB27A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212"/>
                </a:solidFill>
              </a:defRPr>
            </a:pPr>
            <a:r>
              <a:rPr sz="3000" b="1">
                <a:solidFill>
                  <a:srgbClr val="121212"/>
                </a:solidFill>
              </a:rPr>
              <a:t>经营有道：不能只看结果，要看结果从哪里来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29714-2EEE-4EBB-B0E5-3CA51926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1E"/>
          </a:solidFill>
          <a:ln xmlns:a="http://schemas.openxmlformats.org/drawingml/2006/main" w="0">
            <a:solidFill>
              <a:srgbClr val="B8471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35B601-838F-43C9-8BDF-E75C5E548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麦家小馆店长训练营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D7FB7-CABB-4CFD-846C-1E39D7D9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51C95-8CC0-425B-A494-491CDAFE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212"/>
                </a:solidFill>
              </a:defRPr>
            </a:pPr>
            <a:r>
              <a:rPr sz="1950" b="1">
                <a:solidFill>
                  <a:srgbClr val="121212"/>
                </a:solidFill>
              </a:rPr>
              <a:t>营业额只是结果。真正懂经营，要拆清楚它的来源。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5E689-6590-47CE-8E5E-2AB9691E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9525">
            <a:solidFill>
              <a:srgbClr val="BDB7A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8E007-89C0-4FE6-8F2D-4E21BD06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1212"/>
                </a:solidFill>
              </a:defRPr>
            </a:pPr>
            <a:r>
              <a:rPr sz="1950" b="1">
                <a:solidFill>
                  <a:srgbClr val="121212"/>
                </a:solidFill>
              </a:rPr>
              <a:t>客流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87258-29A6-405F-A6AB-81D937C6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9525">
            <a:solidFill>
              <a:srgbClr val="BDB7A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E91FF-FAE4-4ED5-9D2D-EA892CC8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1212"/>
                </a:solidFill>
              </a:defRPr>
            </a:pPr>
            <a:r>
              <a:rPr sz="1950" b="1">
                <a:solidFill>
                  <a:srgbClr val="121212"/>
                </a:solidFill>
              </a:rPr>
              <a:t>客单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A0A93-B100-4F3B-A689-4658D061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812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9525">
            <a:solidFill>
              <a:srgbClr val="BDB7A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E38C1-1DC9-4CD9-972E-1C23155B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1212"/>
                </a:solidFill>
              </a:defRPr>
            </a:pPr>
            <a:r>
              <a:rPr sz="1950" b="1">
                <a:solidFill>
                  <a:srgbClr val="121212"/>
                </a:solidFill>
              </a:rPr>
              <a:t>复购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E5F49-F6AC-452A-BE3B-27D9C8DD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9525">
            <a:solidFill>
              <a:srgbClr val="BDB7A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ECDB5-1F1D-4A15-935A-C44F3101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1212"/>
                </a:solidFill>
              </a:defRPr>
            </a:pPr>
            <a:r>
              <a:rPr sz="1950" b="1">
                <a:solidFill>
                  <a:srgbClr val="121212"/>
                </a:solidFill>
              </a:rPr>
              <a:t>渠道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691A7-FDC2-42D8-AD1A-E87665254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242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9525">
            <a:solidFill>
              <a:srgbClr val="BDB7A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5E564-8567-41C1-BF23-751F04F3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14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1212"/>
                </a:solidFill>
              </a:defRPr>
            </a:pPr>
            <a:r>
              <a:rPr sz="1950" b="1">
                <a:solidFill>
                  <a:srgbClr val="121212"/>
                </a:solidFill>
              </a:rPr>
              <a:t>爆品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C9933-ED0B-4E2E-B97D-32FBA0A6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2425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9525">
            <a:solidFill>
              <a:srgbClr val="BDB7A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03FB7-96F6-4F01-B0C4-4A973390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21212"/>
                </a:solidFill>
              </a:defRPr>
            </a:pPr>
            <a:r>
              <a:rPr sz="1950" b="1">
                <a:solidFill>
                  <a:srgbClr val="121212"/>
                </a:solidFill>
              </a:rPr>
              <a:t>折扣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85D061-B9BE-4A4F-9FA0-FE9CBF50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A2B17"/>
                </a:solidFill>
              </a:defRPr>
            </a:pPr>
            <a:r>
              <a:rPr sz="1875" b="1">
                <a:solidFill>
                  <a:srgbClr val="7A2B17"/>
                </a:solidFill>
              </a:rPr>
              <a:t>店长要问：这个钱靠什么来？能不能持续？有没有利润？有没有复购？</a:t>
            </a:r>
          </a:p>
        </p:txBody>
      </p:sp>
    </p:spTree>
    <p:extLst>
      <p:ext uri="{BB962C8B-B14F-4D97-AF65-F5344CB8AC3E}">
        <p14:creationId xmlns:p14="http://schemas.microsoft.com/office/powerpoint/2010/main" val="6557845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3416FD-62D7-4DFD-86A1-A7BE24DF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71E"/>
                </a:solidFill>
              </a:defRPr>
            </a:pPr>
            <a:r>
              <a:rPr sz="1125" b="1">
                <a:solidFill>
                  <a:srgbClr val="B8471E"/>
                </a:solidFill>
              </a:rPr>
              <a:t>第二项修炼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BC413-05CC-4BF6-9587-D91106C2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212"/>
                </a:solidFill>
              </a:defRPr>
            </a:pPr>
            <a:r>
              <a:rPr sz="3000" b="1">
                <a:solidFill>
                  <a:srgbClr val="121212"/>
                </a:solidFill>
              </a:rPr>
              <a:t>管理有序：让门店忙而不乱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F794B-A44B-4326-A857-96AB1FE9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1E"/>
          </a:solidFill>
          <a:ln xmlns:a="http://schemas.openxmlformats.org/drawingml/2006/main" w="0">
            <a:solidFill>
              <a:srgbClr val="B8471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635A3-AB91-4343-A8A1-851A85ED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麦家小馆店长训练营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79ED4-CD1B-4A4C-A88F-F3599FE0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3C1CC1-D84B-4BCB-8589-D4BD128E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212"/>
                </a:solidFill>
              </a:defRPr>
            </a:pPr>
            <a:r>
              <a:rPr sz="2400" b="1">
                <a:solidFill>
                  <a:srgbClr val="121212"/>
                </a:solidFill>
              </a:rPr>
              <a:t>门店不能靠感觉运转。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D8834-6A85-42D9-860F-44794598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00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30850-26E4-4C24-8147-27768910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9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B17"/>
                </a:solidFill>
              </a:defRPr>
            </a:pPr>
            <a:r>
              <a:rPr sz="1800" b="1">
                <a:solidFill>
                  <a:srgbClr val="7A2B17"/>
                </a:solidFill>
              </a:rPr>
              <a:t>开店前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9B0F6-662A-4108-8023-1A8DA961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1212"/>
                </a:solidFill>
              </a:defRPr>
            </a:pPr>
            <a:r>
              <a:rPr sz="2250" b="1">
                <a:solidFill>
                  <a:srgbClr val="121212"/>
                </a:solidFill>
              </a:rPr>
              <a:t>检查标准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F88FF-B87A-4D6E-8E07-16C2B28C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71750"/>
            <a:ext cx="2000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4D33D-8BEF-4418-AAD4-FC15E2E1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09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B17"/>
                </a:solidFill>
              </a:defRPr>
            </a:pPr>
            <a:r>
              <a:rPr sz="1800" b="1">
                <a:solidFill>
                  <a:srgbClr val="7A2B17"/>
                </a:solidFill>
              </a:rPr>
              <a:t>午高峰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ABB93-675D-4B9D-BD68-F7EF4C17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813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1212"/>
                </a:solidFill>
              </a:defRPr>
            </a:pPr>
            <a:r>
              <a:rPr sz="2250" b="1">
                <a:solidFill>
                  <a:srgbClr val="121212"/>
                </a:solidFill>
              </a:rPr>
              <a:t>准备到位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B7F25-F395-4F5D-B1F4-24BE3793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2000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41697-8A08-4718-82AD-E31BCC66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9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B17"/>
                </a:solidFill>
              </a:defRPr>
            </a:pPr>
            <a:r>
              <a:rPr sz="1800" b="1">
                <a:solidFill>
                  <a:srgbClr val="7A2B17"/>
                </a:solidFill>
              </a:rPr>
              <a:t>晚高峰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57903-25DA-4302-AD96-A0CA54AE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1212"/>
                </a:solidFill>
              </a:defRPr>
            </a:pPr>
            <a:r>
              <a:rPr sz="2250" b="1">
                <a:solidFill>
                  <a:srgbClr val="121212"/>
                </a:solidFill>
              </a:rPr>
              <a:t>岗位协同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4CEC2-AE3A-4309-A824-E2E1A8D2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2000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94913-E8B5-4E0D-A7FB-0455AEF0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098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A2B17"/>
                </a:solidFill>
              </a:defRPr>
            </a:pPr>
            <a:r>
              <a:rPr sz="1800" b="1">
                <a:solidFill>
                  <a:srgbClr val="7A2B17"/>
                </a:solidFill>
              </a:rPr>
              <a:t>闭店后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24C800-6775-4D9E-9E47-75FE5275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813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21212"/>
                </a:solidFill>
              </a:defRPr>
            </a:pPr>
            <a:r>
              <a:rPr sz="2250" b="1">
                <a:solidFill>
                  <a:srgbClr val="121212"/>
                </a:solidFill>
              </a:rPr>
              <a:t>复盘改进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CB8C2E-45A6-4B6E-BDDC-F1D40CFC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55555"/>
                </a:solidFill>
              </a:defRPr>
            </a:pPr>
            <a:r>
              <a:rPr sz="1950" b="1">
                <a:solidFill>
                  <a:srgbClr val="555555"/>
                </a:solidFill>
              </a:rPr>
              <a:t>有标准、有流程、有纪律、有检查、有复盘，门店才稳定、可复制。</a:t>
            </a:r>
          </a:p>
        </p:txBody>
      </p:sp>
    </p:spTree>
    <p:extLst>
      <p:ext uri="{BB962C8B-B14F-4D97-AF65-F5344CB8AC3E}">
        <p14:creationId xmlns:p14="http://schemas.microsoft.com/office/powerpoint/2010/main" val="18108535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820CD3-B7E6-4961-8D01-BED1821C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71E"/>
                </a:solidFill>
              </a:defRPr>
            </a:pPr>
            <a:r>
              <a:rPr sz="1125" b="1">
                <a:solidFill>
                  <a:srgbClr val="B8471E"/>
                </a:solidFill>
              </a:rPr>
              <a:t>第三项修炼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73660-7B86-4937-8CBB-D717C313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212"/>
                </a:solidFill>
              </a:defRPr>
            </a:pPr>
            <a:r>
              <a:rPr sz="3000" b="1">
                <a:solidFill>
                  <a:srgbClr val="121212"/>
                </a:solidFill>
              </a:rPr>
              <a:t>育人有方：店长最大的长期成绩，是团队成长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1A754-4911-4D78-8E6F-413ADDC7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1E"/>
          </a:solidFill>
          <a:ln xmlns:a="http://schemas.openxmlformats.org/drawingml/2006/main" w="0">
            <a:solidFill>
              <a:srgbClr val="B8471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479703-5E6C-42F7-B3DA-2DBBD7AE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麦家小馆店长训练营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7A288-EEEB-4FDD-8FDD-A7E53D77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F7459-244D-41C6-9EE2-1ACA85A1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212"/>
                </a:solidFill>
              </a:defRPr>
            </a:pPr>
            <a:r>
              <a:rPr sz="2100" b="1">
                <a:solidFill>
                  <a:srgbClr val="121212"/>
                </a:solidFill>
              </a:rPr>
              <a:t>只会自己干的店长，会把自己变成门店最大的瓶颈。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C35AF-B5F6-4087-A627-BEA431EB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43338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686A4B-641D-4199-9305-B2DA4227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A2B17"/>
                </a:solidFill>
              </a:defRPr>
            </a:pPr>
            <a:r>
              <a:rPr sz="2250" b="1">
                <a:solidFill>
                  <a:srgbClr val="7A2B17"/>
                </a:solidFill>
              </a:rPr>
              <a:t>短期强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7AE32-AB09-46DE-8C6C-6318D7A1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33750"/>
            <a:ext cx="342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哪里缺人就顶上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谁不会做就自己做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谁做得慢就直接接过来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78353-638B-4A5B-92E9-6767E5E7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28875"/>
            <a:ext cx="43338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4857BB-70CE-43FB-A4E9-03ADD50E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A2B17"/>
                </a:solidFill>
              </a:defRPr>
            </a:pPr>
            <a:r>
              <a:rPr sz="2250" b="1">
                <a:solidFill>
                  <a:srgbClr val="7A2B17"/>
                </a:solidFill>
              </a:rPr>
              <a:t>长期强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2AA85-923C-4AF8-83D9-1AB0B5CA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342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新人有人教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骨干被看见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值班经理被训练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团队能离开店长运转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9FFE8-2300-4D8A-8CB4-376CBE2E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212"/>
                </a:solidFill>
              </a:defRPr>
            </a:pPr>
            <a:r>
              <a:rPr sz="2100" b="1">
                <a:solidFill>
                  <a:srgbClr val="121212"/>
                </a:solidFill>
              </a:rPr>
              <a:t>真正优秀的店长，不是自己一个人强，而是能让一群人变强。</a:t>
            </a:r>
          </a:p>
        </p:txBody>
      </p:sp>
    </p:spTree>
    <p:extLst>
      <p:ext uri="{BB962C8B-B14F-4D97-AF65-F5344CB8AC3E}">
        <p14:creationId xmlns:p14="http://schemas.microsoft.com/office/powerpoint/2010/main" val="1278772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1544D3-3EFE-4CBF-9069-FEDF6A98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71E"/>
                </a:solidFill>
              </a:defRPr>
            </a:pPr>
            <a:r>
              <a:rPr sz="1125" b="1">
                <a:solidFill>
                  <a:srgbClr val="B8471E"/>
                </a:solidFill>
              </a:rPr>
              <a:t>第四项修炼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D31A7-009D-4530-A379-27889F5F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212"/>
                </a:solidFill>
              </a:defRPr>
            </a:pPr>
            <a:r>
              <a:rPr sz="3000" b="1">
                <a:solidFill>
                  <a:srgbClr val="121212"/>
                </a:solidFill>
              </a:rPr>
              <a:t>处事有度：懂人情，但不失原则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3037C-25F8-4143-8461-ACB9E97E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1E"/>
          </a:solidFill>
          <a:ln xmlns:a="http://schemas.openxmlformats.org/drawingml/2006/main" w="0">
            <a:solidFill>
              <a:srgbClr val="B8471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A00A1-200C-47F7-BBDF-06C6B310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麦家小馆店长训练营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E78D8-0AEC-4A7A-9316-32FACAEA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81912-B378-4FDB-8A9B-ADDC9E75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57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212"/>
                </a:solidFill>
              </a:defRPr>
            </a:pPr>
            <a:r>
              <a:rPr sz="2250" b="1">
                <a:solidFill>
                  <a:srgbClr val="121212"/>
                </a:solidFill>
              </a:rPr>
              <a:t>餐饮行业，本质上是和人打交道。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B71BC-828D-43F8-A217-AC410099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55555"/>
                </a:solidFill>
              </a:defRPr>
            </a:pPr>
            <a:r>
              <a:rPr sz="1575" b="1">
                <a:solidFill>
                  <a:srgbClr val="555555"/>
                </a:solidFill>
              </a:rPr>
              <a:t>员工有情绪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7F3EC-22CC-4A0B-B44E-D47EAD7A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194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348B7-9E17-42B9-A986-29F1972C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241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55555"/>
                </a:solidFill>
              </a:defRPr>
            </a:pPr>
            <a:r>
              <a:rPr sz="1575" b="1">
                <a:solidFill>
                  <a:srgbClr val="555555"/>
                </a:solidFill>
              </a:rPr>
              <a:t>顾客有情绪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6BF19-B53F-4CE3-BD9A-3150685D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194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70D80-0F19-4FA4-A2F9-3C714020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241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55555"/>
                </a:solidFill>
              </a:defRPr>
            </a:pPr>
            <a:r>
              <a:rPr sz="1575" b="1">
                <a:solidFill>
                  <a:srgbClr val="555555"/>
                </a:solidFill>
              </a:rPr>
              <a:t>商场有关系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EA8B41-2F80-4A95-AE9B-66AAE5AC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19425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1E"/>
          </a:solidFill>
          <a:ln xmlns:a="http://schemas.openxmlformats.org/drawingml/2006/main" w="0">
            <a:solidFill>
              <a:srgbClr val="B8471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C2AD6-F654-4F35-A40D-1A9494AF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241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55555"/>
                </a:solidFill>
              </a:defRPr>
            </a:pPr>
            <a:r>
              <a:rPr sz="1575" b="1">
                <a:solidFill>
                  <a:srgbClr val="555555"/>
                </a:solidFill>
              </a:rPr>
              <a:t>供应商有合作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E4ECF-F39A-42A5-A1A3-CDAAFE0B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194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BF13D-700C-4DED-85E9-43868EE6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24125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55555"/>
                </a:solidFill>
              </a:defRPr>
            </a:pPr>
            <a:r>
              <a:rPr sz="1575" b="1">
                <a:solidFill>
                  <a:srgbClr val="555555"/>
                </a:solidFill>
              </a:rPr>
              <a:t>平台有规则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F2907-E1E0-4D48-BD84-E7E84DD0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19425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B7098-9584-4625-8E7E-199AFFFC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62375"/>
            <a:ext cx="838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BFB9B-D7F1-494F-9EC7-AE692F06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48125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7A2B17"/>
                </a:solidFill>
              </a:defRPr>
            </a:pPr>
            <a:r>
              <a:rPr sz="2325" b="1">
                <a:solidFill>
                  <a:srgbClr val="7A2B17"/>
                </a:solidFill>
              </a:rPr>
              <a:t>真正的江湖智慧：有温度，但不失标准。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E31FD-9D1D-4EA5-9617-D77F3490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911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通人性，知理性。知道什么时候安抚，也知道什么时候坚持。</a:t>
            </a:r>
          </a:p>
        </p:txBody>
      </p:sp>
    </p:spTree>
    <p:extLst>
      <p:ext uri="{BB962C8B-B14F-4D97-AF65-F5344CB8AC3E}">
        <p14:creationId xmlns:p14="http://schemas.microsoft.com/office/powerpoint/2010/main" val="13302373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695421-07FE-4635-9721-50591E43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71E"/>
                </a:solidFill>
              </a:defRPr>
            </a:pPr>
            <a:r>
              <a:rPr sz="1125" b="1">
                <a:solidFill>
                  <a:srgbClr val="B8471E"/>
                </a:solidFill>
              </a:rPr>
              <a:t>第五项修炼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6870B-9668-44AD-A42F-CFB07818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212"/>
                </a:solidFill>
              </a:defRPr>
            </a:pPr>
            <a:r>
              <a:rPr sz="3000" b="1">
                <a:solidFill>
                  <a:srgbClr val="121212"/>
                </a:solidFill>
              </a:rPr>
              <a:t>担当有魂：店长决定一家店的气质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D9FC40-4937-4359-8905-DC7D0B16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1E"/>
          </a:solidFill>
          <a:ln xmlns:a="http://schemas.openxmlformats.org/drawingml/2006/main" w="0">
            <a:solidFill>
              <a:srgbClr val="B8471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DF3F18-B420-4A8A-8BD3-61234DAB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麦家小馆店长训练营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6A083-94B0-46F8-BF58-70F2A091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88E2A-A204-41EE-8D4B-8B302E34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A2B17"/>
                </a:solidFill>
              </a:defRPr>
            </a:pPr>
            <a:r>
              <a:rPr sz="2400" b="1">
                <a:solidFill>
                  <a:srgbClr val="7A2B17"/>
                </a:solidFill>
              </a:rPr>
              <a:t>顾客看到店长，看到的是麦家小馆。</a:t>
            </a:r>
          </a:p>
          <a:p xmlns:a="http://schemas.openxmlformats.org/drawingml/2006/main">
            <a:pPr algn="l">
              <a:defRPr sz="2400" b="1">
                <a:solidFill>
                  <a:srgbClr val="7A2B17"/>
                </a:solidFill>
              </a:defRPr>
            </a:pPr>
            <a:r>
              <a:rPr sz="2400" b="1">
                <a:solidFill>
                  <a:srgbClr val="7A2B17"/>
                </a:solidFill>
              </a:rPr>
              <a:t>员工看到店长，看到的是企业文化。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F9B4E-EDDC-42AD-A73D-B42AC819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457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B1F8D-EE77-4DD6-B2FB-DE12C253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528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212"/>
                </a:solidFill>
              </a:defRPr>
            </a:pPr>
            <a:r>
              <a:rPr sz="2100" b="1">
                <a:solidFill>
                  <a:srgbClr val="121212"/>
                </a:solidFill>
              </a:rPr>
              <a:t>有担当的店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74801-06C4-4163-BDD3-2605F442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052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员工眼里有活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服务有热情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问题有人管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顾客被重视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C798D1-3D5D-4D40-8701-0B17FB45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4572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E91BA-E841-45C7-9C9B-9B933499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528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212"/>
                </a:solidFill>
              </a:defRPr>
            </a:pPr>
            <a:r>
              <a:rPr sz="2100" b="1">
                <a:solidFill>
                  <a:srgbClr val="121212"/>
                </a:solidFill>
              </a:rPr>
              <a:t>没有担当的店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37C65-0A97-4BE6-8509-FD80181B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052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员工各干各的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标准没人守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问题找理由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顾客被冷落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034D1-CA94-4468-8C53-1FFDD036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212"/>
                </a:solidFill>
              </a:defRPr>
            </a:pPr>
            <a:r>
              <a:rPr sz="2100" b="1">
                <a:solidFill>
                  <a:srgbClr val="121212"/>
                </a:solidFill>
              </a:rPr>
              <a:t>担当有魂，就是心里有一根柱子：责任、标准、使命。</a:t>
            </a:r>
          </a:p>
        </p:txBody>
      </p:sp>
    </p:spTree>
    <p:extLst>
      <p:ext uri="{BB962C8B-B14F-4D97-AF65-F5344CB8AC3E}">
        <p14:creationId xmlns:p14="http://schemas.microsoft.com/office/powerpoint/2010/main" val="3971268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1B16AC-5A00-4018-8E39-50187FCF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71E"/>
                </a:solidFill>
              </a:defRPr>
            </a:pPr>
            <a:r>
              <a:rPr sz="1125" b="1">
                <a:solidFill>
                  <a:srgbClr val="B8471E"/>
                </a:solidFill>
              </a:rPr>
              <a:t>模型关系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AC260-7F9D-4389-A17E-87E405E7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212"/>
                </a:solidFill>
              </a:defRPr>
            </a:pPr>
            <a:r>
              <a:rPr sz="3000" b="1">
                <a:solidFill>
                  <a:srgbClr val="121212"/>
                </a:solidFill>
              </a:rPr>
              <a:t>五项修炼解决“成为谁”，BMGS 解决“怎么干”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E39B8-5C5D-44C7-A56D-8E6F28A9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1E"/>
          </a:solidFill>
          <a:ln xmlns:a="http://schemas.openxmlformats.org/drawingml/2006/main" w="0">
            <a:solidFill>
              <a:srgbClr val="B8471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6D837-5B13-4A7D-AECF-9BC03F0A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麦家小馆店长训练营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49C88-0286-4F1C-B90E-200078B8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0116B-F9AE-4EBF-BB17-BC3DB038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4E9865-965C-4341-9FF3-C57C70E9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288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A2B17"/>
                </a:solidFill>
              </a:defRPr>
            </a:pPr>
            <a:r>
              <a:rPr sz="2400" b="1">
                <a:solidFill>
                  <a:srgbClr val="7A2B17"/>
                </a:solidFill>
              </a:rPr>
              <a:t>五项修炼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79249-261F-4B6B-82CF-B3FE7A9F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店长的人格框架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决定他如何理解责任、团队、顾客和品牌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1E9CA-99F4-43B5-BFEA-67654D5F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7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B94C1-5408-4E81-91D3-9002A5A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28875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A2B17"/>
                </a:solidFill>
              </a:defRPr>
            </a:pPr>
            <a:r>
              <a:rPr sz="2400" b="1">
                <a:solidFill>
                  <a:srgbClr val="7A2B17"/>
                </a:solidFill>
              </a:rPr>
              <a:t>BMGS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3F0DE-2A6F-4064-B2F3-427A05BD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店长的做事框架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帮助他把经营、管理、成长和服务落成动作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48F0B-5AEB-42FD-8611-2108E333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21212"/>
                </a:solidFill>
              </a:defRPr>
            </a:pPr>
            <a:r>
              <a:rPr sz="2100" b="1">
                <a:solidFill>
                  <a:srgbClr val="121212"/>
                </a:solidFill>
              </a:rPr>
              <a:t>两者合在一起，构成麦家小馆店长训练营的底层哲学。</a:t>
            </a:r>
          </a:p>
        </p:txBody>
      </p:sp>
    </p:spTree>
    <p:extLst>
      <p:ext uri="{BB962C8B-B14F-4D97-AF65-F5344CB8AC3E}">
        <p14:creationId xmlns:p14="http://schemas.microsoft.com/office/powerpoint/2010/main" val="6436883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8791AF-AE74-4894-909A-003A667D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71E"/>
                </a:solidFill>
              </a:defRPr>
            </a:pPr>
            <a:r>
              <a:rPr sz="1125" b="1">
                <a:solidFill>
                  <a:srgbClr val="B8471E"/>
                </a:solidFill>
              </a:rPr>
              <a:t>金句沉淀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6CC34-C6CC-4F32-B32F-E478A9B9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212"/>
                </a:solidFill>
              </a:defRPr>
            </a:pPr>
            <a:r>
              <a:rPr sz="3000" b="1">
                <a:solidFill>
                  <a:srgbClr val="121212"/>
                </a:solidFill>
              </a:rPr>
              <a:t>麦家小馆店长行为准则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59B7E-8882-4788-B320-63168D06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1E"/>
          </a:solidFill>
          <a:ln xmlns:a="http://schemas.openxmlformats.org/drawingml/2006/main" w="0">
            <a:solidFill>
              <a:srgbClr val="B8471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5BF30-E661-4892-B822-13BFF439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麦家小馆店长训练营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A139A-45B8-478A-8197-0A0A3D67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8DE610-FE97-4A62-942F-4826C47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5737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212"/>
                </a:solidFill>
              </a:defRPr>
            </a:pPr>
            <a:r>
              <a:rPr sz="2550" b="1">
                <a:solidFill>
                  <a:srgbClr val="121212"/>
                </a:solidFill>
              </a:rPr>
              <a:t>通人性，而不失原则；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289CEA-40A0-4A0D-B832-9A4A86A9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A2B17"/>
                </a:solidFill>
              </a:defRPr>
            </a:pPr>
            <a:r>
              <a:rPr sz="2550" b="1">
                <a:solidFill>
                  <a:srgbClr val="7A2B17"/>
                </a:solidFill>
              </a:rPr>
              <a:t>知理性，而不失温度；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1D873-1400-48EB-ACC9-F45D3D0C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212"/>
                </a:solidFill>
              </a:defRPr>
            </a:pPr>
            <a:r>
              <a:rPr sz="2550" b="1">
                <a:solidFill>
                  <a:srgbClr val="121212"/>
                </a:solidFill>
              </a:rPr>
              <a:t>守制度，而不失灵活；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F5C96-448C-418F-B41C-826B6665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A2B17"/>
                </a:solidFill>
              </a:defRPr>
            </a:pPr>
            <a:r>
              <a:rPr sz="2550" b="1">
                <a:solidFill>
                  <a:srgbClr val="7A2B17"/>
                </a:solidFill>
              </a:rPr>
              <a:t>讲结果，而不失成长。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76ECB-11EF-45C1-835D-016D0031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742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F77AF-E148-4835-8117-C9EFE932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9112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这句话不是用来背的，而是用来处理复杂问题时校准自己的。</a:t>
            </a:r>
          </a:p>
        </p:txBody>
      </p:sp>
    </p:spTree>
    <p:extLst>
      <p:ext uri="{BB962C8B-B14F-4D97-AF65-F5344CB8AC3E}">
        <p14:creationId xmlns:p14="http://schemas.microsoft.com/office/powerpoint/2010/main" val="4247980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2360BA-1564-49CB-A1A9-097944AC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71E"/>
                </a:solidFill>
              </a:defRPr>
            </a:pPr>
            <a:r>
              <a:rPr sz="1125" b="1">
                <a:solidFill>
                  <a:srgbClr val="B8471E"/>
                </a:solidFill>
              </a:rPr>
              <a:t>课堂练习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DF007-2B54-40A1-A8D1-3445BAB1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212"/>
                </a:solidFill>
              </a:defRPr>
            </a:pPr>
            <a:r>
              <a:rPr sz="3000" b="1">
                <a:solidFill>
                  <a:srgbClr val="121212"/>
                </a:solidFill>
              </a:rPr>
              <a:t>把五项修炼变成自我检查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9B40C-FE12-4BD0-927C-9A5998C4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1E"/>
          </a:solidFill>
          <a:ln xmlns:a="http://schemas.openxmlformats.org/drawingml/2006/main" w="0">
            <a:solidFill>
              <a:srgbClr val="B8471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FF27E-AAFD-445E-AAD5-37209E0B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麦家小馆店长训练营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ADF4D-C3EC-4712-827B-AA9E2BA2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02341-4414-4274-BAB2-289A0DF7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71E"/>
                </a:solidFill>
              </a:defRPr>
            </a:pPr>
            <a:r>
              <a:rPr sz="1350" b="1">
                <a:solidFill>
                  <a:srgbClr val="B8471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6C2CC-8DAD-48B7-90F2-15952219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145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212"/>
                </a:solidFill>
              </a:defRPr>
            </a:pPr>
            <a:r>
              <a:rPr sz="1875" b="1">
                <a:solidFill>
                  <a:srgbClr val="121212"/>
                </a:solidFill>
              </a:rPr>
              <a:t>我今天有没有真正看懂营业额背后的原因？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40511-4811-4FB5-B3FA-2EE93802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81225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1E833-443B-4F45-9679-ACBCDF98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47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71E"/>
                </a:solidFill>
              </a:defRPr>
            </a:pPr>
            <a:r>
              <a:rPr sz="1350" b="1">
                <a:solidFill>
                  <a:srgbClr val="B8471E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FC7F4-F647-4319-B7AE-495E2232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003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212"/>
                </a:solidFill>
              </a:defRPr>
            </a:pPr>
            <a:r>
              <a:rPr sz="1875" b="1">
                <a:solidFill>
                  <a:srgbClr val="121212"/>
                </a:solidFill>
              </a:rPr>
              <a:t>我的门店是否靠流程运转，而不是靠我临时救火？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09DDE-F856-42DB-A24C-449709D9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67025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7B05BF-549A-4472-993B-BA7CCEDF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337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71E"/>
                </a:solidFill>
              </a:defRPr>
            </a:pPr>
            <a:r>
              <a:rPr sz="1350" b="1">
                <a:solidFill>
                  <a:srgbClr val="B8471E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A16BB-23DF-4D0E-AD09-2C9D0B5D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861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212"/>
                </a:solidFill>
              </a:defRPr>
            </a:pPr>
            <a:r>
              <a:rPr sz="1875" b="1">
                <a:solidFill>
                  <a:srgbClr val="121212"/>
                </a:solidFill>
              </a:rPr>
              <a:t>我今天有没有教会一个人，发现一个人，培养一个人？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EF32E-5DFC-408C-B7B9-79B7E364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52825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3E729-C67D-4519-9B32-D9FCE306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95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71E"/>
                </a:solidFill>
              </a:defRPr>
            </a:pPr>
            <a:r>
              <a:rPr sz="1350" b="1">
                <a:solidFill>
                  <a:srgbClr val="B8471E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6B4772-E67C-4E67-B6D4-0CF18E74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719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1212"/>
                </a:solidFill>
              </a:defRPr>
            </a:pPr>
            <a:r>
              <a:rPr sz="1875" b="1">
                <a:solidFill>
                  <a:srgbClr val="121212"/>
                </a:solidFill>
              </a:rPr>
              <a:t>我处理问题时，是只有制度，还是既有温度也有原则？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96770-CC20-46E7-B305-A7F05CC0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38625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26D0E3-74F0-4E66-8A12-2F164C42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053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71E"/>
                </a:solidFill>
              </a:defRPr>
            </a:pPr>
            <a:r>
              <a:rPr sz="1350" b="1">
                <a:solidFill>
                  <a:srgbClr val="B8471E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756F3A-D8CF-409D-ACBD-143A7706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57700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A2B17"/>
                </a:solidFill>
              </a:defRPr>
            </a:pPr>
            <a:r>
              <a:rPr sz="1875" b="1">
                <a:solidFill>
                  <a:srgbClr val="7A2B17"/>
                </a:solidFill>
              </a:rPr>
              <a:t>顾客和员工能不能从我身上看到麦家小馆的标准？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7AED3-C3C5-4D49-A854-B7280985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24425"/>
            <a:ext cx="790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B7AC"/>
          </a:solidFill>
          <a:ln xmlns:a="http://schemas.openxmlformats.org/drawingml/2006/main" w="0">
            <a:solidFill>
              <a:srgbClr val="BDB7A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055281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7CEC2F-E4F7-4364-BE93-9851002F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71E"/>
                </a:solidFill>
              </a:defRPr>
            </a:pPr>
            <a:r>
              <a:rPr sz="1125" b="1">
                <a:solidFill>
                  <a:srgbClr val="B8471E"/>
                </a:solidFill>
              </a:rPr>
              <a:t>课程收束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85F14-5CC1-46C1-9AA8-B3963334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143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1212"/>
                </a:solidFill>
              </a:defRPr>
            </a:pPr>
            <a:r>
              <a:rPr sz="3000" b="1">
                <a:solidFill>
                  <a:srgbClr val="121212"/>
                </a:solidFill>
              </a:rPr>
              <a:t>从今天开始，学习成为一个值得托付的店长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3BC88-325E-49C3-8612-A30D1262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71E"/>
          </a:solidFill>
          <a:ln xmlns:a="http://schemas.openxmlformats.org/drawingml/2006/main" w="0">
            <a:solidFill>
              <a:srgbClr val="B8471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F6BBE-6356-4C02-8412-925F8DFD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麦家小馆店长训练营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36AE61-9D1D-402F-9C09-8190A26C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A863F-6613-4FB4-96D2-734FFCB8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9334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969FA8-E944-4C92-8587-ED839576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333625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7A2B17"/>
                </a:solidFill>
              </a:defRPr>
            </a:pPr>
            <a:r>
              <a:rPr sz="2325" b="1">
                <a:solidFill>
                  <a:srgbClr val="7A2B17"/>
                </a:solidFill>
              </a:rPr>
              <a:t>优秀的店长，既要懂经营，也要懂人情；</a:t>
            </a:r>
          </a:p>
          <a:p xmlns:a="http://schemas.openxmlformats.org/drawingml/2006/main">
            <a:pPr algn="ctr">
              <a:defRPr sz="2325" b="1">
                <a:solidFill>
                  <a:srgbClr val="7A2B17"/>
                </a:solidFill>
              </a:defRPr>
            </a:pPr>
            <a:r>
              <a:rPr sz="2325" b="1">
                <a:solidFill>
                  <a:srgbClr val="7A2B17"/>
                </a:solidFill>
              </a:rPr>
              <a:t>既要守规则，也要通人性；</a:t>
            </a:r>
          </a:p>
          <a:p xmlns:a="http://schemas.openxmlformats.org/drawingml/2006/main">
            <a:pPr algn="ctr">
              <a:defRPr sz="2325" b="1">
                <a:solidFill>
                  <a:srgbClr val="7A2B17"/>
                </a:solidFill>
              </a:defRPr>
            </a:pPr>
            <a:r>
              <a:rPr sz="2325" b="1">
                <a:solidFill>
                  <a:srgbClr val="7A2B17"/>
                </a:solidFill>
              </a:rPr>
              <a:t>既要有制度，也要有温度；</a:t>
            </a:r>
          </a:p>
          <a:p xmlns:a="http://schemas.openxmlformats.org/drawingml/2006/main">
            <a:pPr algn="ctr">
              <a:defRPr sz="2325" b="1">
                <a:solidFill>
                  <a:srgbClr val="7A2B17"/>
                </a:solidFill>
              </a:defRPr>
            </a:pPr>
            <a:r>
              <a:rPr sz="2325" b="1">
                <a:solidFill>
                  <a:srgbClr val="7A2B17"/>
                </a:solidFill>
              </a:rPr>
              <a:t>既要讲结果，也要带人成长。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DB09B-F1EA-48C6-B45A-E8D9027A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914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21212"/>
                </a:solidFill>
              </a:defRPr>
            </a:pPr>
            <a:r>
              <a:rPr sz="2025" b="1">
                <a:solidFill>
                  <a:srgbClr val="121212"/>
                </a:solidFill>
              </a:rPr>
              <a:t>我们不只是学习怎么当店长。</a:t>
            </a:r>
          </a:p>
          <a:p xmlns:a="http://schemas.openxmlformats.org/drawingml/2006/main">
            <a:pPr algn="ctr">
              <a:defRPr sz="2025" b="1">
                <a:solidFill>
                  <a:srgbClr val="121212"/>
                </a:solidFill>
              </a:defRPr>
            </a:pPr>
            <a:r>
              <a:rPr sz="2025" b="1">
                <a:solidFill>
                  <a:srgbClr val="121212"/>
                </a:solidFill>
              </a:rPr>
              <a:t>我们要学习，怎样成为一个真正被团队信任、被顾客认可、被公司托付的店长。</a:t>
            </a:r>
          </a:p>
        </p:txBody>
      </p:sp>
    </p:spTree>
    <p:extLst>
      <p:ext uri="{BB962C8B-B14F-4D97-AF65-F5344CB8AC3E}">
        <p14:creationId xmlns:p14="http://schemas.microsoft.com/office/powerpoint/2010/main" val="1661431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2026-07-15T13:28:07.9830000Z</dcterms:created>
  <dcterms:modified xsi:type="dcterms:W3CDTF">2026-07-15T13:28:07.9830000Z</dcterms:modified>
</coreProperties>
</file>